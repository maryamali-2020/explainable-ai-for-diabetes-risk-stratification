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113055"/>
          </a:solidFill>
          <a:ln w="12700">
            <a:solidFill>
              <a:srgbClr val="11305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57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Multi-Task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Diabetes Risk Stratification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05840" y="2212848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Diagnostic Measures | Multi-Task ML Workflow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  ·  Maitha Alghfeli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321868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Data Science &amp; Artificial Intelligence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Engineering &amp; IT, Ajman University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5840" y="429768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999232" y="429768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99232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992624" y="429768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92624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986016" y="4297680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86016" y="4297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384048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68680"/>
            <a:ext cx="384048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686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81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a leading chronic disease linked to cardiovascular, renal, and neurological complications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066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identification of high-risk patients can enable timely preventive intervention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9806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2761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under resource constraints demands data-driven prioritization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49300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Single-threshold rules cannot capture complex nonlinear feature interactions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029200" y="868680"/>
            <a:ext cx="384048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029200" y="868680"/>
            <a:ext cx="3840480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074920" y="86868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408176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68112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workflow: classification, regression, clustering &amp; XAI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103120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468112" y="2066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preprocessing pipelines with reproducible evaluation</a:t>
            </a:r>
            <a:endParaRPr lang="en-US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2798064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68112" y="2761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Recall-aware model selection for clinically sensitive screening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493008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468112" y="3456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global and local interpretability for clinical transparency</a:t>
            </a:r>
            <a:endParaRPr lang="en-US" sz="1100" dirty="0"/>
          </a:p>
        </p:txBody>
      </p:sp>
      <p:sp>
        <p:nvSpPr>
          <p:cNvPr id="27" name="Shape 16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390 patients · 14 predictors · 15.38% diabetes prevalence  |  Kaggle: Predict Diabetes Based on Diagnostic Measures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804672"/>
            <a:ext cx="1572768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 Markers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118872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· HDLChol · CholHDLRatio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993392" y="8046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93392" y="804672"/>
            <a:ext cx="157276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93392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66544" y="118872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· BMI · WaistHipRatio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712464" y="8046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12464" y="804672"/>
            <a:ext cx="1572768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12464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85616" y="118872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 · DiastolicBP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31536" y="8046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31536" y="804672"/>
            <a:ext cx="157276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31536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Anthropometric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04688" y="118872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· Weight · Waist · Hip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50608" y="804672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50608" y="804672"/>
            <a:ext cx="157276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50608" y="80467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23760" y="118872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Gender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4320" y="241401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74320" y="2798064"/>
            <a:ext cx="1993392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42416" y="27432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770632"/>
            <a:ext cx="402336" cy="40233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65760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Parsing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65760" y="3621024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Comma-style decimals standardized; text outcome labels mapped to binary (0/1)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450592" y="2798064"/>
            <a:ext cx="1993392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218688" y="27432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770632"/>
            <a:ext cx="402336" cy="40233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542032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Zero Audit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542032" y="3621024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clinically implausible zero placeholders found; zero-to-missing recoding not required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626864" y="2798064"/>
            <a:ext cx="1993392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5394960" y="27432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2770632"/>
            <a:ext cx="402336" cy="40233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718304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&amp; Encoding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4718304" y="3621024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→ median imputation; Gender → most-frequent then one-hot; train-only pipelines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6803136" y="2798064"/>
            <a:ext cx="1993392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571232" y="27432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2770632"/>
            <a:ext cx="402336" cy="4023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894576" y="32644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Assessment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894576" y="3621024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applied but outliers retained; Glucose showed highest burden (12.82%)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" y="768096"/>
            <a:ext cx="1938528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6032" y="8046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56032" y="1444752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32304" y="768096"/>
            <a:ext cx="1938528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32304" y="8046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432304" y="1444752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08576" y="768096"/>
            <a:ext cx="1938528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08576" y="8046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0.0522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608576" y="1444752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84848" y="768096"/>
            <a:ext cx="1938528" cy="1234440"/>
          </a:xfrm>
          <a:prstGeom prst="rect">
            <a:avLst/>
          </a:prstGeom>
          <a:solidFill>
            <a:srgbClr val="0A234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84848" y="804672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784848" y="1444752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0.20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" y="2157984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Held-Out Test Set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487168"/>
          <a:ext cx="8631936" cy="192024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005840"/>
                <a:gridCol w="914400"/>
                <a:gridCol w="1133856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</a:rPr>
                        <a:t>Logistic Regression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0.7778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0.5833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0.6667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0.9798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Support Vector Machine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0.6667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0.8333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0.7407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0.9747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0.9103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0.7778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0.5833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0.6667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0.9457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0.8974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0.9337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256032" y="4535424"/>
            <a:ext cx="8631936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9184" y="4535424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Threshold 0.20 → Recall 1.00, Zero False Negatives, Specificity 0.924  — preferred over SMOTE for this dataset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Clustering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86384"/>
            <a:ext cx="411480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86384"/>
            <a:ext cx="4114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786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Regression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Continuous Glucose Estimation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1920240" cy="256032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04288" y="1572768"/>
            <a:ext cx="658368" cy="256032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80944" y="1572768"/>
            <a:ext cx="640080" cy="256032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39312" y="1572768"/>
            <a:ext cx="658368" cy="256032"/>
          </a:xfrm>
          <a:prstGeom prst="rect">
            <a:avLst/>
          </a:prstGeom>
          <a:solidFill>
            <a:srgbClr val="0A23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1865376"/>
            <a:ext cx="393192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" y="186537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★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04288" y="1865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80944" y="1865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39312" y="1865376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2267712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2336" y="226771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04288" y="226771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980944" y="22677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39312" y="226771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2670048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02336" y="26700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304288" y="267004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980944" y="26700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39312" y="267004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3108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ensembles, suggesting limited nonlinear signal in this feature set for glucose prediction. R² = 0.247 indicates a supportive tool, not a clinical substitute.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0040" y="40416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536192" y="4087368"/>
            <a:ext cx="2409139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81907" y="40416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R²=0.247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0040" y="43525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1536192" y="4398264"/>
            <a:ext cx="1872691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45459" y="43525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R²=0.192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0040" y="46634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536192" y="4709160"/>
            <a:ext cx="1472794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45562" y="46634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R²=0.151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54880" y="786384"/>
            <a:ext cx="411480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54880" y="786384"/>
            <a:ext cx="41148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786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(k=2)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846320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0.4446  (best of k=2 to 6)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846320" y="1645920"/>
            <a:ext cx="393192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919472" y="17007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Higher Risk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919472" y="19568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· Hyperglycemic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919472" y="22402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45 patients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217920" y="22402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Glucose: 237.33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516368" y="224028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BMI: 30.51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919472" y="260604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58.98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217920" y="260604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84.44%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846320" y="3200400"/>
            <a:ext cx="393192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91947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Lower Risk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919472" y="35112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· Normoglycemic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919472" y="37947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345 patients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217920" y="37947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Glucose: 90.38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516368" y="37947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BMI: 28.55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919472" y="41605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45.18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217920" y="416052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6.38%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4846320" y="47914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captured clinically meaningful cardiometabolic heterogeneity without using the outcome label.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(XAI) — SHAP Analysis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76809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(mean |SHAP|)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115214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572768" y="1225296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72768" y="1225296"/>
            <a:ext cx="292608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35424" y="115214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159105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572768" y="1664208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1664208"/>
            <a:ext cx="658368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67712" y="159105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20299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572768" y="2103120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72768" y="2103120"/>
            <a:ext cx="585216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94560" y="202996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4320" y="24688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572768" y="2542032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72768" y="2542032"/>
            <a:ext cx="438912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48256" y="24688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290779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WaistHipRatio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572768" y="2980944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572768" y="2980944"/>
            <a:ext cx="234086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843430" y="290779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4320" y="334670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572768" y="3419856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72768" y="3419856"/>
            <a:ext cx="234086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843430" y="334670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74320" y="378561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CholHDLRatio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572768" y="3858768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572768" y="3858768"/>
            <a:ext cx="117043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726387" y="378561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274320" y="422452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HDLChol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572768" y="4297680"/>
            <a:ext cx="292608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572768" y="4297680"/>
            <a:ext cx="117043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726387" y="42245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577840" y="76809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577840" y="1115568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577840" y="1115568"/>
            <a:ext cx="73152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15000" y="1115568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↑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715000" y="134416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risk driver — markedly increases predicted diabetes probability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577840" y="1828800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5577840" y="1828800"/>
            <a:ext cx="73152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15000" y="1828800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↑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5715000" y="205740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patients consistently show elevated risk across model and SHAP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577840" y="2542032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577840" y="2542032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715000" y="2542032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 ↑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715000" y="277063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blood pressure contributes meaningfully to increased risk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577840" y="3255264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577840" y="3255264"/>
            <a:ext cx="73152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715000" y="3255264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HDLChol ↑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715000" y="348386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favorable HDL levels reduce predicted risk (protective)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577840" y="3968496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577840" y="3968496"/>
            <a:ext cx="73152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15000" y="3968496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CholHDLRatio ↑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715000" y="419709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lipid balance elevates risk alongside glucose &amp; BP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(beeswarm) and local (waterfall) SHAP explanations used — consistent with XAI best practices in clinical prediction [Holzinger et al., 2017; Lundberg &amp; Lee, 2017]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0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3152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Implications &amp; Limitations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7680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Applications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152144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9184" y="1307592"/>
            <a:ext cx="438912" cy="438912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3502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207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Triage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41248" y="14813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patients warranting confirmatory testing or earlier metabolic assessment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" y="2048256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" y="2203704"/>
            <a:ext cx="438912" cy="438912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23113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Screening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41248" y="23774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preliminary risk stratification and guides follow-up in mobile-health settings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2944368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29184" y="3099816"/>
            <a:ext cx="438912" cy="438912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312724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1248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Interventions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41248" y="3273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support targeted outreach: intensive monitoring for high-risk, lighter prevention for low-risk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274320" y="3840480"/>
            <a:ext cx="41148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29184" y="3995928"/>
            <a:ext cx="438912" cy="438912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402336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41248" y="3895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Transparency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41248" y="4169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outputs translate predictions into auditable, patient-facing clinical narratives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754880" y="7680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754880" y="1152144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33502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57216" y="1207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Cohort (n=390)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5157216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statistical power and raises risk of unstable performance estimates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754880" y="1901952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084832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57216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5157216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may not generalize to broader populations or different healthcare contexts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4754880" y="2651760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2834640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57216" y="2706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Features Only</a:t>
            </a:r>
            <a:endParaRPr lang="en-US" sz="1100" dirty="0"/>
          </a:p>
        </p:txBody>
      </p:sp>
      <p:sp>
        <p:nvSpPr>
          <p:cNvPr id="38" name="Text 28"/>
          <p:cNvSpPr/>
          <p:nvPr/>
        </p:nvSpPr>
        <p:spPr>
          <a:xfrm>
            <a:off x="5157216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medication history, comorbidities, lifestyle factors, or longitudinal follow-up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4754880" y="3401568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3584448"/>
            <a:ext cx="256032" cy="25603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157216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</a:t>
            </a:r>
            <a:endParaRPr lang="en-US" sz="1100" dirty="0"/>
          </a:p>
        </p:txBody>
      </p:sp>
      <p:sp>
        <p:nvSpPr>
          <p:cNvPr id="42" name="Text 31"/>
          <p:cNvSpPr/>
          <p:nvPr/>
        </p:nvSpPr>
        <p:spPr>
          <a:xfrm>
            <a:off x="5157216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fairness assessment, calibration monitoring &amp; governance before deployment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4754880" y="4151376"/>
            <a:ext cx="4114800" cy="6400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8032" y="4334256"/>
            <a:ext cx="256032" cy="25603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157216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≠ Causality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5157216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improves transparency but should be interpreted descriptively, not causally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0D3A5C"/>
          </a:solidFill>
          <a:ln w="12700">
            <a:solidFill>
              <a:srgbClr val="0D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117043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best ROC-AUC (0.9798) + well-calibrated probabilities (Brier 0.052)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22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" y="17556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best recall operating point (0.8333) with only 2 false negatives at default threshold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7744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6384" y="234086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to 0.20 → 100% recall, zero missed high-risk patients, 5 FP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6265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6384" y="29260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best continuous Glucose estimation (RMSE 48.94, R² 0.247)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478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6384" y="351129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 — clear separation: 84.44% vs 6.38% outcome prevalence between clusters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33088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86384" y="409651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identifies Glucose, Age, SystolicBP as dominant and clinically plausible risk drivers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164592" y="4663440"/>
            <a:ext cx="89794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Ali · Maitha Alghfeli  |  Dept. Data Science &amp; AI, Ajman University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Multi-Task Healthcare Analytics for Diabetes Risk Stratification</dc:title>
  <dc:subject>PptxGenJS Presentation</dc:subject>
  <dc:creator>PptxGenJS</dc:creator>
  <cp:lastModifiedBy>PptxGenJS</cp:lastModifiedBy>
  <cp:revision>1</cp:revision>
  <dcterms:created xsi:type="dcterms:W3CDTF">2026-04-22T08:05:11Z</dcterms:created>
  <dcterms:modified xsi:type="dcterms:W3CDTF">2026-04-22T08:05:11Z</dcterms:modified>
</cp:coreProperties>
</file>